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7" r:id="rId3"/>
    <p:sldId id="258" r:id="rId4"/>
    <p:sldId id="269" r:id="rId5"/>
    <p:sldId id="259" r:id="rId6"/>
    <p:sldId id="261" r:id="rId7"/>
    <p:sldId id="262" r:id="rId8"/>
    <p:sldId id="270" r:id="rId9"/>
    <p:sldId id="263" r:id="rId10"/>
    <p:sldId id="264" r:id="rId11"/>
    <p:sldId id="265" r:id="rId12"/>
    <p:sldId id="268" r:id="rId13"/>
  </p:sldIdLst>
  <p:sldSz cx="9144000" cy="5143500" type="screen16x9"/>
  <p:notesSz cx="5143500" cy="9144000"/>
  <p:embeddedFontLst>
    <p:embeddedFont>
      <p:font typeface="Arimo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294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11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430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g"/><Relationship Id="rId11" Type="http://schemas.openxmlformats.org/officeDocument/2006/relationships/image" Target="../media/image13.png"/><Relationship Id="rId5" Type="http://schemas.openxmlformats.org/officeDocument/2006/relationships/image" Target="../media/image7.jp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062AA43-0AA3-4728-B154-96B7BD7D3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"/>
            <a:ext cx="9144000" cy="514237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13D5790-ED95-429D-A8B4-776C86009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161" y="4789135"/>
            <a:ext cx="1295839" cy="35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87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353" y="395883"/>
            <a:ext cx="478229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¿De qué problema partimos?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66353" y="1357610"/>
            <a:ext cx="478229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Publicar fotos con menores sin anonimizarlos es un </a:t>
            </a:r>
            <a:r>
              <a:rPr lang="en-US" sz="10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riesgo real de privacidad</a:t>
            </a: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Revisar imágenes a mano no escala.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66353" y="1894136"/>
            <a:ext cx="2331839" cy="1138014"/>
          </a:xfrm>
          <a:prstGeom prst="roundRect">
            <a:avLst>
              <a:gd name="adj" fmla="val 1756"/>
            </a:avLst>
          </a:prstGeom>
          <a:solidFill>
            <a:srgbClr val="2B2952"/>
          </a:solidFill>
          <a:ln/>
        </p:spPr>
      </p:sp>
      <p:sp>
        <p:nvSpPr>
          <p:cNvPr id="6" name="Text 3"/>
          <p:cNvSpPr/>
          <p:nvPr/>
        </p:nvSpPr>
        <p:spPr>
          <a:xfrm>
            <a:off x="599554" y="2027337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 escala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554" y="2294409"/>
            <a:ext cx="2065437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 muchas imágenes, revisarlas una a una es inviable en tiempo y esfuerzo.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916808" y="1894136"/>
            <a:ext cx="2331839" cy="1138014"/>
          </a:xfrm>
          <a:prstGeom prst="roundRect">
            <a:avLst>
              <a:gd name="adj" fmla="val 1756"/>
            </a:avLst>
          </a:prstGeom>
          <a:solidFill>
            <a:srgbClr val="2B2952"/>
          </a:solidFill>
          <a:ln/>
        </p:spPr>
      </p:sp>
      <p:sp>
        <p:nvSpPr>
          <p:cNvPr id="9" name="Text 6"/>
          <p:cNvSpPr/>
          <p:nvPr/>
        </p:nvSpPr>
        <p:spPr>
          <a:xfrm>
            <a:off x="3050009" y="2027337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 es objetivo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50009" y="2294409"/>
            <a:ext cx="2065437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Depende del criterio de cada persona, lo que genera inconsistencia.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53" y="3150766"/>
            <a:ext cx="4782294" cy="734988"/>
          </a:xfrm>
          <a:prstGeom prst="roundRect">
            <a:avLst>
              <a:gd name="adj" fmla="val 2719"/>
            </a:avLst>
          </a:prstGeom>
          <a:solidFill>
            <a:srgbClr val="2B2952"/>
          </a:solidFill>
          <a:ln/>
        </p:spPr>
      </p:sp>
      <p:sp>
        <p:nvSpPr>
          <p:cNvPr id="12" name="Text 9"/>
          <p:cNvSpPr/>
          <p:nvPr/>
        </p:nvSpPr>
        <p:spPr>
          <a:xfrm>
            <a:off x="599554" y="3283967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 propenso a errores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9554" y="3551039"/>
            <a:ext cx="4515892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 fácil pasar por alto algún rostro, especialmente en fotos grupales.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53" y="4019252"/>
            <a:ext cx="4782294" cy="728290"/>
          </a:xfrm>
          <a:prstGeom prst="roundRect">
            <a:avLst>
              <a:gd name="adj" fmla="val 2744"/>
            </a:avLst>
          </a:prstGeom>
          <a:solidFill>
            <a:srgbClr val="022349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54" y="4211985"/>
            <a:ext cx="166539" cy="1332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9294" y="4171131"/>
            <a:ext cx="4216152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Nuestra solución: el usuario sube una foto y el sistema se encarga del resto. </a:t>
            </a: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Ninguna intervención humana.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7395"/>
            <a:ext cx="590974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El resultado final, en tres pasos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679" y="1075969"/>
            <a:ext cx="3538682" cy="19182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79319" y="2355593"/>
            <a:ext cx="1182128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Pixelar</a:t>
            </a:r>
            <a:endParaRPr lang="en-US" sz="1350" dirty="0"/>
          </a:p>
        </p:txBody>
      </p:sp>
      <p:sp>
        <p:nvSpPr>
          <p:cNvPr id="7" name="Text 2"/>
          <p:cNvSpPr/>
          <p:nvPr/>
        </p:nvSpPr>
        <p:spPr>
          <a:xfrm>
            <a:off x="3757027" y="2351964"/>
            <a:ext cx="1182128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Clasificar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2634734" y="2351964"/>
            <a:ext cx="1182128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Detectar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610970" y="2745042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sistema devuelve tres versiones: la </a:t>
            </a:r>
            <a:r>
              <a:rPr lang="en-US" sz="11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original</a:t>
            </a: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una con marcos </a:t>
            </a:r>
            <a:r>
              <a:rPr lang="en-US" sz="1150" dirty="0">
                <a:solidFill>
                  <a:srgbClr val="92D05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verdes</a:t>
            </a: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(adulto) o </a:t>
            </a:r>
            <a:r>
              <a:rPr lang="en-US" sz="1150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rojos</a:t>
            </a: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(menor), y la </a:t>
            </a:r>
            <a:r>
              <a:rPr lang="en-US" sz="11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versión final</a:t>
            </a: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 los menores pixelados.</a:t>
            </a:r>
            <a:endParaRPr lang="en-US" sz="11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0DBC7CF-3D72-4E8D-9F7D-FD5EE3F82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161" y="4789135"/>
            <a:ext cx="1295839" cy="35436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A0F11292-C752-4B04-8E8C-0BE2AF027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88" y="3256374"/>
            <a:ext cx="2398619" cy="159907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E9A4D72A-28FE-47DA-BB46-B0DC770AF2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918" y="3256372"/>
            <a:ext cx="2398617" cy="159907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ED64F9F2-0E28-493E-9638-F61E54E387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246" y="3256373"/>
            <a:ext cx="2398619" cy="1599079"/>
          </a:xfrm>
          <a:prstGeom prst="rect">
            <a:avLst/>
          </a:prstGeom>
        </p:spPr>
      </p:pic>
      <p:sp>
        <p:nvSpPr>
          <p:cNvPr id="25" name="Text 3">
            <a:extLst>
              <a:ext uri="{FF2B5EF4-FFF2-40B4-BE49-F238E27FC236}">
                <a16:creationId xmlns:a16="http://schemas.microsoft.com/office/drawing/2014/main" id="{3A11635B-7ABB-4243-A0E6-B904D8858046}"/>
              </a:ext>
            </a:extLst>
          </p:cNvPr>
          <p:cNvSpPr/>
          <p:nvPr/>
        </p:nvSpPr>
        <p:spPr>
          <a:xfrm>
            <a:off x="1217713" y="4890246"/>
            <a:ext cx="1182128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Original</a:t>
            </a:r>
            <a:endParaRPr lang="en-US" sz="135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CEA3F266-E680-442A-82D5-92FA3972F4D3}"/>
              </a:ext>
            </a:extLst>
          </p:cNvPr>
          <p:cNvSpPr/>
          <p:nvPr/>
        </p:nvSpPr>
        <p:spPr>
          <a:xfrm>
            <a:off x="4005157" y="4890246"/>
            <a:ext cx="1182128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 marcos y resultado</a:t>
            </a:r>
            <a:endParaRPr lang="en-US" sz="13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CE7565F1-3589-4CA8-81E3-52CBA62819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7285" y="1493678"/>
            <a:ext cx="566196" cy="392766"/>
          </a:xfrm>
          <a:prstGeom prst="rect">
            <a:avLst/>
          </a:prstGeom>
        </p:spPr>
      </p:pic>
      <p:sp>
        <p:nvSpPr>
          <p:cNvPr id="27" name="Text 3">
            <a:extLst>
              <a:ext uri="{FF2B5EF4-FFF2-40B4-BE49-F238E27FC236}">
                <a16:creationId xmlns:a16="http://schemas.microsoft.com/office/drawing/2014/main" id="{904D7232-89BA-4311-8CD9-B0873B14A2C3}"/>
              </a:ext>
            </a:extLst>
          </p:cNvPr>
          <p:cNvSpPr/>
          <p:nvPr/>
        </p:nvSpPr>
        <p:spPr>
          <a:xfrm>
            <a:off x="6839200" y="4894727"/>
            <a:ext cx="1182128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Pixelada</a:t>
            </a:r>
            <a:endParaRPr lang="en-US" sz="1350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956D0FCD-D228-4F93-BA78-E4A351F38C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0192" y="1481566"/>
            <a:ext cx="566196" cy="39276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34324B5D-52EA-46EA-99C9-4F7A880D1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8207" y="1493678"/>
            <a:ext cx="566196" cy="39276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BE282DDE-5FB1-4FF0-B2C4-9D5549F2E0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39980" y="1382850"/>
            <a:ext cx="614423" cy="614423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7DC83653-1066-466F-8B96-D12DA80AE1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8264" y="1427696"/>
            <a:ext cx="749611" cy="530028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B35C4F6D-E6D3-4FD9-8714-FC78F775F8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7483" y="1394337"/>
            <a:ext cx="588905" cy="588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70446"/>
            <a:ext cx="638911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Cómo está construido por dentro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48322" y="905769"/>
            <a:ext cx="8047356" cy="677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sistema se divide en </a:t>
            </a:r>
            <a:r>
              <a:rPr lang="en-US" sz="11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servicios independientes</a:t>
            </a: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que se comunican a través de </a:t>
            </a:r>
            <a:r>
              <a:rPr lang="en-US" sz="115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Apache Kafka</a:t>
            </a: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que actúa como tablón de anuncios: cada servicio publica su resultado y el siguiente lo recoge cuando está listo. </a:t>
            </a:r>
            <a:endParaRPr lang="en-US" sz="115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513FF5C3-2AF0-44A6-A51F-09AD4D5FF43B}"/>
              </a:ext>
            </a:extLst>
          </p:cNvPr>
          <p:cNvSpPr/>
          <p:nvPr/>
        </p:nvSpPr>
        <p:spPr>
          <a:xfrm>
            <a:off x="523577" y="1483670"/>
            <a:ext cx="7849638" cy="53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¿Qué pasa desde que subes la foto? </a:t>
            </a:r>
          </a:p>
          <a:p>
            <a:pPr>
              <a:lnSpc>
                <a:spcPts val="1850"/>
              </a:lnSpc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Siete etapas con trazabilidad completa: se registra la hora de inicio y fin de cada una.</a:t>
            </a:r>
            <a:endParaRPr lang="en-US" sz="1200" dirty="0"/>
          </a:p>
          <a:p>
            <a:pPr>
              <a:lnSpc>
                <a:spcPts val="1850"/>
              </a:lnSpc>
            </a:pPr>
            <a:endParaRPr lang="en-US" sz="1200" b="1" dirty="0">
              <a:solidFill>
                <a:srgbClr val="FFFFFF"/>
              </a:solidFill>
              <a:latin typeface="Syne Bold" pitchFamily="34" charset="0"/>
              <a:ea typeface="Syne Bold" pitchFamily="34" charset="-122"/>
              <a:cs typeface="Syne Bold" pitchFamily="34" charset="-120"/>
            </a:endParaRPr>
          </a:p>
          <a:p>
            <a:pPr>
              <a:lnSpc>
                <a:spcPts val="1850"/>
              </a:lnSpc>
            </a:pPr>
            <a:endParaRPr lang="en-US" sz="1200" dirty="0"/>
          </a:p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198E272-7322-4A57-8EB5-0730EDF03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161" y="4789135"/>
            <a:ext cx="1295839" cy="35436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79AF23C-88BA-4299-813E-5A17552E1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85" y="2190160"/>
            <a:ext cx="7096422" cy="269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784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70446"/>
            <a:ext cx="638911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Cómo está construido por dentro (Casos)</a:t>
            </a:r>
            <a:endParaRPr lang="en-US" sz="27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198E272-7322-4A57-8EB5-0730EDF03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161" y="4789135"/>
            <a:ext cx="1295839" cy="354365"/>
          </a:xfrm>
          <a:prstGeom prst="rect">
            <a:avLst/>
          </a:prstGeom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FFC812A6-F6F6-49F8-BD94-57B31B149D93}"/>
              </a:ext>
            </a:extLst>
          </p:cNvPr>
          <p:cNvSpPr/>
          <p:nvPr/>
        </p:nvSpPr>
        <p:spPr>
          <a:xfrm>
            <a:off x="523577" y="1039180"/>
            <a:ext cx="7795670" cy="306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El sistema puede actuar de manera distinta en el flujo dependiendo de 3 tipos de casos:</a:t>
            </a:r>
          </a:p>
          <a:p>
            <a:pPr>
              <a:lnSpc>
                <a:spcPts val="1850"/>
              </a:lnSpc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Caso 1 : No se detectan rostros</a:t>
            </a:r>
          </a:p>
          <a:p>
            <a:pPr>
              <a:lnSpc>
                <a:spcPts val="1850"/>
              </a:lnSpc>
            </a:pPr>
            <a:r>
              <a:rPr lang="en-US" sz="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     </a:t>
            </a: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El flujo se detiene en la fase de detección</a:t>
            </a:r>
          </a:p>
          <a:p>
            <a:pPr>
              <a:lnSpc>
                <a:spcPts val="1850"/>
              </a:lnSpc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- No se aplica clasificación ni pixelado</a:t>
            </a:r>
          </a:p>
          <a:p>
            <a:pPr>
              <a:lnSpc>
                <a:spcPts val="1850"/>
              </a:lnSpc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- Se registra sin rostros detectados</a:t>
            </a:r>
          </a:p>
          <a:p>
            <a:pPr>
              <a:lnSpc>
                <a:spcPts val="1850"/>
              </a:lnSpc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Caso 2 : Solo adultos detectados</a:t>
            </a:r>
          </a:p>
          <a:p>
            <a:pPr>
              <a:lnSpc>
                <a:spcPts val="1850"/>
              </a:lnSpc>
            </a:pPr>
            <a:r>
              <a:rPr lang="en-US" sz="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     </a:t>
            </a: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No se aplica pixelado</a:t>
            </a:r>
          </a:p>
          <a:p>
            <a:pPr>
              <a:lnSpc>
                <a:spcPts val="1850"/>
              </a:lnSpc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- La imagen se considera segura</a:t>
            </a:r>
          </a:p>
          <a:p>
            <a:pPr>
              <a:lnSpc>
                <a:spcPts val="1850"/>
              </a:lnSpc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Caso 3 : Menores detectados</a:t>
            </a:r>
          </a:p>
          <a:p>
            <a:pPr>
              <a:lnSpc>
                <a:spcPts val="1850"/>
              </a:lnSpc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- Se detectan rostros y al menos 1 es de menor</a:t>
            </a:r>
          </a:p>
          <a:p>
            <a:pPr>
              <a:lnSpc>
                <a:spcPts val="1850"/>
              </a:lnSpc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- Se cumple la traza complete</a:t>
            </a:r>
          </a:p>
          <a:p>
            <a:pPr>
              <a:lnSpc>
                <a:spcPts val="1850"/>
              </a:lnSpc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- Se generan las 3 imágenes finales</a:t>
            </a:r>
          </a:p>
          <a:p>
            <a:pPr marL="228600" indent="-228600">
              <a:lnSpc>
                <a:spcPts val="1850"/>
              </a:lnSpc>
              <a:buFont typeface="+mj-lt"/>
              <a:buAutoNum type="arabicPeriod"/>
            </a:pPr>
            <a:endParaRPr lang="en-US" sz="1200" b="1" dirty="0">
              <a:solidFill>
                <a:srgbClr val="FFFFFF"/>
              </a:solidFill>
              <a:latin typeface="Syne Bold" pitchFamily="34" charset="0"/>
              <a:ea typeface="Syne Bold" pitchFamily="34" charset="-122"/>
              <a:cs typeface="Syne Bold" pitchFamily="34" charset="-120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B05F8DBB-5163-4F08-BE44-CCC1714ECCB4}"/>
              </a:ext>
            </a:extLst>
          </p:cNvPr>
          <p:cNvSpPr/>
          <p:nvPr/>
        </p:nvSpPr>
        <p:spPr>
          <a:xfrm>
            <a:off x="584518" y="4230162"/>
            <a:ext cx="5859294" cy="32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Tecnologías de soporte: </a:t>
            </a: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Kafka (mensajería), MinIO (almacenamiento) y PostgreSQL (estado)</a:t>
            </a:r>
            <a:endParaRPr lang="en-US" sz="1100" dirty="0"/>
          </a:p>
          <a:p>
            <a:pPr>
              <a:lnSpc>
                <a:spcPts val="1850"/>
              </a:lnSpc>
            </a:pPr>
            <a:endParaRPr lang="en-US" sz="1200" dirty="0">
              <a:solidFill>
                <a:srgbClr val="FFFFFF"/>
              </a:solidFill>
              <a:latin typeface="Syne Bold" pitchFamily="34" charset="0"/>
              <a:ea typeface="Syne Bold" pitchFamily="34" charset="-122"/>
              <a:cs typeface="Syne Bold" pitchFamily="34" charset="-120"/>
            </a:endParaRPr>
          </a:p>
          <a:p>
            <a:pPr>
              <a:lnSpc>
                <a:spcPts val="1850"/>
              </a:lnSpc>
            </a:pPr>
            <a:endParaRPr lang="en-US" sz="1200" dirty="0"/>
          </a:p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A0B76499-0D1A-45B8-8339-5BB06A4D69E3}"/>
              </a:ext>
            </a:extLst>
          </p:cNvPr>
          <p:cNvSpPr/>
          <p:nvPr/>
        </p:nvSpPr>
        <p:spPr>
          <a:xfrm>
            <a:off x="584518" y="4488969"/>
            <a:ext cx="2990588" cy="24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Docker conecta y despliega todos el servicios</a:t>
            </a:r>
            <a:endParaRPr lang="en-US" sz="1000" dirty="0"/>
          </a:p>
          <a:p>
            <a:pPr>
              <a:lnSpc>
                <a:spcPts val="1850"/>
              </a:lnSpc>
            </a:pPr>
            <a:endParaRPr lang="en-US" sz="1200" dirty="0">
              <a:solidFill>
                <a:srgbClr val="FFFFFF"/>
              </a:solidFill>
              <a:latin typeface="Syne Bold" pitchFamily="34" charset="0"/>
              <a:ea typeface="Syne Bold" pitchFamily="34" charset="-122"/>
              <a:cs typeface="Syne Bold" pitchFamily="34" charset="-120"/>
            </a:endParaRPr>
          </a:p>
          <a:p>
            <a:pPr>
              <a:lnSpc>
                <a:spcPts val="1850"/>
              </a:lnSpc>
            </a:pPr>
            <a:endParaRPr lang="en-US" sz="1200" dirty="0"/>
          </a:p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0269" y="308149"/>
            <a:ext cx="6381080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Cómo detectamos si una cara es de un menor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1035424" y="827187"/>
            <a:ext cx="7032921" cy="922362"/>
          </a:xfrm>
          <a:prstGeom prst="roundRect">
            <a:avLst>
              <a:gd name="adj" fmla="val 7435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35424" y="824637"/>
            <a:ext cx="57150" cy="922362"/>
          </a:xfrm>
          <a:prstGeom prst="roundRect">
            <a:avLst>
              <a:gd name="adj" fmla="val 28224"/>
            </a:avLst>
          </a:prstGeom>
          <a:solidFill>
            <a:srgbClr val="8061FF"/>
          </a:solidFill>
          <a:ln/>
        </p:spPr>
      </p:sp>
      <p:sp>
        <p:nvSpPr>
          <p:cNvPr id="6" name="Text 3"/>
          <p:cNvSpPr/>
          <p:nvPr/>
        </p:nvSpPr>
        <p:spPr>
          <a:xfrm>
            <a:off x="3910865" y="943265"/>
            <a:ext cx="1437382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Detección de rostros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96788" y="1184374"/>
            <a:ext cx="6749741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RetinaFace (buffalo_l) localiza cada cara con alta precisión y devuelve sus coordenadas exactas.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35424" y="1826791"/>
            <a:ext cx="7032921" cy="922362"/>
          </a:xfrm>
          <a:prstGeom prst="roundRect">
            <a:avLst>
              <a:gd name="adj" fmla="val 7435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" name="Shape 6"/>
          <p:cNvSpPr/>
          <p:nvPr/>
        </p:nvSpPr>
        <p:spPr>
          <a:xfrm>
            <a:off x="1033415" y="1826791"/>
            <a:ext cx="57150" cy="922362"/>
          </a:xfrm>
          <a:prstGeom prst="roundRect">
            <a:avLst>
              <a:gd name="adj" fmla="val 28224"/>
            </a:avLst>
          </a:prstGeom>
          <a:solidFill>
            <a:srgbClr val="8061FF"/>
          </a:solidFill>
          <a:ln/>
        </p:spPr>
      </p:sp>
      <p:sp>
        <p:nvSpPr>
          <p:cNvPr id="10" name="Text 7"/>
          <p:cNvSpPr/>
          <p:nvPr/>
        </p:nvSpPr>
        <p:spPr>
          <a:xfrm>
            <a:off x="3910865" y="1948607"/>
            <a:ext cx="1514773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Clasificación de edad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96788" y="2183978"/>
            <a:ext cx="6749741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 neuronal propia basada en </a:t>
            </a:r>
            <a:r>
              <a:rPr lang="en-US" sz="8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ResNet50</a:t>
            </a: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Entrenamos solo la cabeza de clasificación con la base congelada.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035424" y="2826395"/>
            <a:ext cx="7032921" cy="922362"/>
          </a:xfrm>
          <a:prstGeom prst="roundRect">
            <a:avLst>
              <a:gd name="adj" fmla="val 7435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33415" y="2826395"/>
            <a:ext cx="57150" cy="922362"/>
          </a:xfrm>
          <a:prstGeom prst="roundRect">
            <a:avLst>
              <a:gd name="adj" fmla="val 28224"/>
            </a:avLst>
          </a:prstGeom>
          <a:solidFill>
            <a:srgbClr val="8061FF"/>
          </a:solidFill>
          <a:ln/>
        </p:spPr>
      </p:sp>
      <p:sp>
        <p:nvSpPr>
          <p:cNvPr id="14" name="Text 11"/>
          <p:cNvSpPr/>
          <p:nvPr/>
        </p:nvSpPr>
        <p:spPr>
          <a:xfrm>
            <a:off x="3910865" y="2961727"/>
            <a:ext cx="1686520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Dataset desbalanceado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96788" y="3183582"/>
            <a:ext cx="6749741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Aumento de datos (rotaciones, brillo, zoom) y mayor peso a los menores durante el entrenamiento.</a:t>
            </a:r>
          </a:p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3925 menores vs 5853 adultos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035424" y="3825999"/>
            <a:ext cx="7032921" cy="922362"/>
          </a:xfrm>
          <a:prstGeom prst="roundRect">
            <a:avLst>
              <a:gd name="adj" fmla="val 7435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33415" y="3825999"/>
            <a:ext cx="57150" cy="922362"/>
          </a:xfrm>
          <a:prstGeom prst="roundRect">
            <a:avLst>
              <a:gd name="adj" fmla="val 28224"/>
            </a:avLst>
          </a:prstGeom>
          <a:solidFill>
            <a:srgbClr val="8061FF"/>
          </a:solidFill>
          <a:ln/>
        </p:spPr>
      </p:sp>
      <p:sp>
        <p:nvSpPr>
          <p:cNvPr id="18" name="Text 15"/>
          <p:cNvSpPr/>
          <p:nvPr/>
        </p:nvSpPr>
        <p:spPr>
          <a:xfrm>
            <a:off x="3998079" y="3905063"/>
            <a:ext cx="142755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Umbral conservador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96788" y="4183187"/>
            <a:ext cx="6749741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Puntuación ≥ </a:t>
            </a:r>
            <a:r>
              <a:rPr lang="en-US" sz="8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0.45</a:t>
            </a: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(no 0.50): preferimos pixelar un adulto de más a dejar un menor expuesto.</a:t>
            </a:r>
            <a:endParaRPr lang="en-US" sz="8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5B5C2661-7C23-41A1-9414-9614F42D2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161" y="4789135"/>
            <a:ext cx="1295839" cy="354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8340" y="1065750"/>
            <a:ext cx="19718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¿Por qué ResNet50?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8340" y="1380224"/>
            <a:ext cx="802847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Pre-entrenada en 1,2M de imágenes: ya reconoce bordes y formas. Solo entrenamos la parte final.</a:t>
            </a:r>
            <a:endParaRPr lang="en-US" sz="115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A76F4A6-B801-4621-9EDF-55D8BF4B1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161" y="4789135"/>
            <a:ext cx="1295839" cy="354365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8A20A77C-F154-4996-99B5-CA288F64B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23" y="2298623"/>
            <a:ext cx="3581377" cy="1384859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8E5662BE-7D81-4194-8985-EB0EDD16F113}"/>
              </a:ext>
            </a:extLst>
          </p:cNvPr>
          <p:cNvSpPr/>
          <p:nvPr/>
        </p:nvSpPr>
        <p:spPr>
          <a:xfrm>
            <a:off x="523577" y="465609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Dos decisiones que definen la calidad del sistema</a:t>
            </a:r>
            <a:endParaRPr lang="en-US" sz="275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91F7960E-0FAE-43FA-80E1-6F3AD1C0D2D8}"/>
              </a:ext>
            </a:extLst>
          </p:cNvPr>
          <p:cNvSpPr/>
          <p:nvPr/>
        </p:nvSpPr>
        <p:spPr>
          <a:xfrm>
            <a:off x="528340" y="1759290"/>
            <a:ext cx="831534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 han hecho pruebas comparando CNNs normales, CNNs con aumento de datos, Resnet50 con su base congelada y aumento de datos, y Resnet50 con FineTuning, y la conclusion ha sido que la major decision es Resnet con base congelada.</a:t>
            </a:r>
            <a:endParaRPr lang="en-US" sz="1150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698571ED-143A-4F36-82BC-9DA3376800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038" y="3744037"/>
            <a:ext cx="3408139" cy="1399463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106C21C4-FF7A-4D0E-B7AE-7C572EBB9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98623"/>
            <a:ext cx="3408138" cy="138486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21C6B590-4714-45E3-8826-71EED3F612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23" y="3718334"/>
            <a:ext cx="3581377" cy="1399464"/>
          </a:xfrm>
          <a:prstGeom prst="rect">
            <a:avLst/>
          </a:prstGeom>
        </p:spPr>
      </p:pic>
      <p:sp>
        <p:nvSpPr>
          <p:cNvPr id="39" name="Text 2">
            <a:extLst>
              <a:ext uri="{FF2B5EF4-FFF2-40B4-BE49-F238E27FC236}">
                <a16:creationId xmlns:a16="http://schemas.microsoft.com/office/drawing/2014/main" id="{A40043DB-D1A8-43D2-B019-FF2F2AEF435B}"/>
              </a:ext>
            </a:extLst>
          </p:cNvPr>
          <p:cNvSpPr/>
          <p:nvPr/>
        </p:nvSpPr>
        <p:spPr>
          <a:xfrm>
            <a:off x="3493071" y="3593983"/>
            <a:ext cx="2052857" cy="153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Resnet congelado es la que proporciona valores más equilibrados de Accuracy y Loss y un mejor % de falsos negativos con solo 42. </a:t>
            </a:r>
            <a:endParaRPr lang="en-US" sz="1150"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EE996D83-6702-40AC-A9F7-97F2943365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4833" y="2342016"/>
            <a:ext cx="2121095" cy="12137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44D89D-3DCB-42CA-9F39-E316F4478DD5}"/>
              </a:ext>
            </a:extLst>
          </p:cNvPr>
          <p:cNvSpPr/>
          <p:nvPr/>
        </p:nvSpPr>
        <p:spPr>
          <a:xfrm>
            <a:off x="523577" y="465609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Dos decisiones que definen la calidad del sistema</a:t>
            </a:r>
            <a:endParaRPr lang="en-US" sz="275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4376BC0-56AD-42FB-BF81-22DB978A6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161" y="4789135"/>
            <a:ext cx="1295839" cy="35436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9CD76D4-9CCD-480A-B6BE-58B865C5D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756" y="3380928"/>
            <a:ext cx="2053845" cy="168312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92E36E4-747A-46F8-AF89-689E216C0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49" y="3124137"/>
            <a:ext cx="5135691" cy="1664998"/>
          </a:xfrm>
          <a:prstGeom prst="rect">
            <a:avLst/>
          </a:prstGeom>
        </p:spPr>
      </p:pic>
      <p:sp>
        <p:nvSpPr>
          <p:cNvPr id="6" name="Text 16">
            <a:extLst>
              <a:ext uri="{FF2B5EF4-FFF2-40B4-BE49-F238E27FC236}">
                <a16:creationId xmlns:a16="http://schemas.microsoft.com/office/drawing/2014/main" id="{044F5E25-69F2-469F-9E93-BE9E6EC312F4}"/>
              </a:ext>
            </a:extLst>
          </p:cNvPr>
          <p:cNvSpPr/>
          <p:nvPr/>
        </p:nvSpPr>
        <p:spPr>
          <a:xfrm>
            <a:off x="523576" y="1065750"/>
            <a:ext cx="3662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¿Por qué umbral de 0.45 y fijarse en el recall?</a:t>
            </a:r>
            <a:endParaRPr lang="en-US" sz="1350" dirty="0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C16DADA5-ABE5-4149-8A97-6DBCA8839D25}"/>
              </a:ext>
            </a:extLst>
          </p:cNvPr>
          <p:cNvSpPr/>
          <p:nvPr/>
        </p:nvSpPr>
        <p:spPr>
          <a:xfrm>
            <a:off x="523577" y="1700346"/>
            <a:ext cx="3865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todos los errores cuestan igual:</a:t>
            </a:r>
            <a:endParaRPr lang="en-US" sz="1150" dirty="0"/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9E0A6348-3930-406B-934D-938A94377093}"/>
              </a:ext>
            </a:extLst>
          </p:cNvPr>
          <p:cNvSpPr/>
          <p:nvPr/>
        </p:nvSpPr>
        <p:spPr>
          <a:xfrm>
            <a:off x="523576" y="2037975"/>
            <a:ext cx="3865959" cy="1009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Falso positivo</a:t>
            </a: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(adulto → menor): molestia menor, sin consecuencias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Falso negativo</a:t>
            </a: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(menor → adulto): </a:t>
            </a:r>
            <a:r>
              <a:rPr lang="en-US" sz="11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violación de privacidad</a:t>
            </a:r>
            <a:endParaRPr lang="en-US" sz="1150" dirty="0"/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E6E9BEBC-95E3-4BAD-A4BB-A32D4AD049C6}"/>
              </a:ext>
            </a:extLst>
          </p:cNvPr>
          <p:cNvSpPr/>
          <p:nvPr/>
        </p:nvSpPr>
        <p:spPr>
          <a:xfrm>
            <a:off x="5173912" y="1772780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Umbral 0.45 : el modelo separa bien ambas clases.</a:t>
            </a:r>
            <a:endParaRPr lang="en-US" sz="1150" dirty="0"/>
          </a:p>
        </p:txBody>
      </p:sp>
      <p:sp>
        <p:nvSpPr>
          <p:cNvPr id="13" name="Text 19">
            <a:extLst>
              <a:ext uri="{FF2B5EF4-FFF2-40B4-BE49-F238E27FC236}">
                <a16:creationId xmlns:a16="http://schemas.microsoft.com/office/drawing/2014/main" id="{CFFC5505-F6F1-4154-9A6D-4976061846D9}"/>
              </a:ext>
            </a:extLst>
          </p:cNvPr>
          <p:cNvSpPr/>
          <p:nvPr/>
        </p:nvSpPr>
        <p:spPr>
          <a:xfrm>
            <a:off x="523576" y="1417997"/>
            <a:ext cx="8314309" cy="3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s-E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 el umbral de 0.45 reducimos los falsos negativos a 42 casos, priorizando privacidad frente a 63 falsos positivos</a:t>
            </a:r>
            <a:endParaRPr lang="en-US" sz="115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A34B11B-46EB-42B6-B2A6-A145DF612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672" y="2030273"/>
            <a:ext cx="2659408" cy="143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881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41849" y="332185"/>
            <a:ext cx="464790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 que ve quien usa el sistema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241846" y="726400"/>
            <a:ext cx="488052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Interfaz web en </a:t>
            </a:r>
            <a:r>
              <a:rPr lang="en-US" sz="9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React</a:t>
            </a: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 modo oscuro y validación robusta de ficheros.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1450" y="1098315"/>
            <a:ext cx="238423" cy="2384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41849" y="1429903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Subida intuitiva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241849" y="1677460"/>
            <a:ext cx="488052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Arrastrar y soltar con previsualización. Validación leyendo bytes reales del fichero.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1450" y="2023595"/>
            <a:ext cx="238423" cy="2384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41849" y="2367959"/>
            <a:ext cx="1823814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Progreso en tiempo real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241847" y="2615156"/>
            <a:ext cx="488052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Seguimiento del procesamiento etapa a etapa al finalizar.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1848" y="3102015"/>
            <a:ext cx="238423" cy="2384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241848" y="3409691"/>
            <a:ext cx="2112764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Tres versiones del resultado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241848" y="3640247"/>
            <a:ext cx="488052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Original, con marcos y pixelada. Cada cara con su puntuación de confianza.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10472" y="4138992"/>
            <a:ext cx="238423" cy="23842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210472" y="4452209"/>
            <a:ext cx="1719560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Historial y estadísticas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3210472" y="4704651"/>
            <a:ext cx="488052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Miniaturas, filtros por estado, búsqueda por ID y métricas globales.</a:t>
            </a:r>
            <a:endParaRPr lang="en-US" sz="9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572377D-5F3F-406E-8321-671299F6D3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95" y="507504"/>
            <a:ext cx="2994212" cy="4316404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2229690-1E08-402E-8D4D-7080645BCE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879" y="1829535"/>
            <a:ext cx="2210885" cy="183573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748F1C5-8AF8-4CFA-9E9E-DB51E867A1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5879" y="3796390"/>
            <a:ext cx="2210885" cy="13471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58403"/>
            <a:ext cx="452750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¿Qué pasa si algo falla?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97632"/>
            <a:ext cx="8096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sistema está diseñado para </a:t>
            </a:r>
            <a:r>
              <a:rPr lang="en-US" sz="11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perder trabajo</a:t>
            </a: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y recuperarse ante cualquier incidencia.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705273"/>
            <a:ext cx="3973637" cy="1365126"/>
          </a:xfrm>
          <a:prstGeom prst="roundRect">
            <a:avLst>
              <a:gd name="adj" fmla="val 6698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4527" y="1705273"/>
            <a:ext cx="76200" cy="1365126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</p:sp>
      <p:sp>
        <p:nvSpPr>
          <p:cNvPr id="6" name="Text 4"/>
          <p:cNvSpPr/>
          <p:nvPr/>
        </p:nvSpPr>
        <p:spPr>
          <a:xfrm>
            <a:off x="749350" y="1873895"/>
            <a:ext cx="32947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Mensajes Kafka con confirmación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350" y="2183606"/>
            <a:ext cx="357924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se confirman hasta que el procesamiento termina con éxito. Si un servicio cae, al reiniciar retoma desde donde lo dejó.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46786" y="1705273"/>
            <a:ext cx="3973637" cy="1365126"/>
          </a:xfrm>
          <a:prstGeom prst="roundRect">
            <a:avLst>
              <a:gd name="adj" fmla="val 6698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7736" y="1705273"/>
            <a:ext cx="76200" cy="1365126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</p:sp>
      <p:sp>
        <p:nvSpPr>
          <p:cNvPr id="10" name="Text 8"/>
          <p:cNvSpPr/>
          <p:nvPr/>
        </p:nvSpPr>
        <p:spPr>
          <a:xfrm>
            <a:off x="4872558" y="1873895"/>
            <a:ext cx="30938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Nombres de fichero predecibles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72558" y="2183606"/>
            <a:ext cx="357924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Las imágenes se guardan con nombres fijos: reprocesar una solicitud no genera duplicados.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3577" y="3219971"/>
            <a:ext cx="3973637" cy="1365126"/>
          </a:xfrm>
          <a:prstGeom prst="roundRect">
            <a:avLst>
              <a:gd name="adj" fmla="val 6698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4527" y="3219971"/>
            <a:ext cx="76200" cy="1365126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</p:sp>
      <p:sp>
        <p:nvSpPr>
          <p:cNvPr id="14" name="Text 12"/>
          <p:cNvSpPr/>
          <p:nvPr/>
        </p:nvSpPr>
        <p:spPr>
          <a:xfrm>
            <a:off x="749350" y="3388593"/>
            <a:ext cx="286464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Errores irrecuperables visibles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350" y="3698304"/>
            <a:ext cx="357924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 un error es permanente (imagen corrupta), la solicitud se marca como ERROR y aparece en el historial.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46786" y="3219971"/>
            <a:ext cx="3973637" cy="1365126"/>
          </a:xfrm>
          <a:prstGeom prst="roundRect">
            <a:avLst>
              <a:gd name="adj" fmla="val 6698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7736" y="3219971"/>
            <a:ext cx="76200" cy="1365126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72558" y="3388593"/>
            <a:ext cx="303631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Parada limpia de contenedores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2558" y="3698304"/>
            <a:ext cx="357924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 apagar un contenedor, el sistema termina la tarea en curso antes de detenerse.</a:t>
            </a:r>
            <a:endParaRPr lang="en-US" sz="11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1E491D99-3B2C-459E-B8FC-C5132B87F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161" y="4789135"/>
            <a:ext cx="1295839" cy="3543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05235"/>
            <a:ext cx="4996383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544464"/>
            <a:ext cx="2599209" cy="1546994"/>
          </a:xfrm>
          <a:prstGeom prst="roundRect">
            <a:avLst>
              <a:gd name="adj" fmla="val 1451"/>
            </a:avLst>
          </a:prstGeom>
          <a:solidFill>
            <a:srgbClr val="2B2952"/>
          </a:solidFill>
          <a:ln/>
        </p:spPr>
      </p:sp>
      <p:sp>
        <p:nvSpPr>
          <p:cNvPr id="4" name="Text 2"/>
          <p:cNvSpPr/>
          <p:nvPr/>
        </p:nvSpPr>
        <p:spPr>
          <a:xfrm>
            <a:off x="673150" y="169403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Sistema funcional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73150" y="2003747"/>
            <a:ext cx="23000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Extremo a extremo, probado con imágenes reales de familias con menores y adultos mezclados.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72358" y="1544464"/>
            <a:ext cx="2599209" cy="1546994"/>
          </a:xfrm>
          <a:prstGeom prst="roundRect">
            <a:avLst>
              <a:gd name="adj" fmla="val 1451"/>
            </a:avLst>
          </a:prstGeom>
          <a:solidFill>
            <a:srgbClr val="2B2952"/>
          </a:solidFill>
          <a:ln/>
        </p:spPr>
      </p:sp>
      <p:sp>
        <p:nvSpPr>
          <p:cNvPr id="7" name="Text 5"/>
          <p:cNvSpPr/>
          <p:nvPr/>
        </p:nvSpPr>
        <p:spPr>
          <a:xfrm>
            <a:off x="3421931" y="1694036"/>
            <a:ext cx="23000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Arquitectura event-driven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21930" y="2169927"/>
            <a:ext cx="23000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Cada servicio es intercambiable sin tocar el resto, ideal para pipelines de procesamiento.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21139" y="1544464"/>
            <a:ext cx="2599283" cy="1546994"/>
          </a:xfrm>
          <a:prstGeom prst="roundRect">
            <a:avLst>
              <a:gd name="adj" fmla="val 1451"/>
            </a:avLst>
          </a:prstGeom>
          <a:solidFill>
            <a:srgbClr val="2B2952"/>
          </a:solidFill>
          <a:ln/>
        </p:spPr>
      </p:sp>
      <p:sp>
        <p:nvSpPr>
          <p:cNvPr id="10" name="Text 8"/>
          <p:cNvSpPr/>
          <p:nvPr/>
        </p:nvSpPr>
        <p:spPr>
          <a:xfrm>
            <a:off x="6170712" y="1694036"/>
            <a:ext cx="230013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Diseño alineado con el problema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0712" y="2223715"/>
            <a:ext cx="2363688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Umbral 0.45 y el diseño de la red neuronal refleja decisiones conscientes.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3577" y="3241030"/>
            <a:ext cx="3973637" cy="1097161"/>
          </a:xfrm>
          <a:prstGeom prst="roundRect">
            <a:avLst>
              <a:gd name="adj" fmla="val 2045"/>
            </a:avLst>
          </a:prstGeom>
          <a:solidFill>
            <a:srgbClr val="2B2952"/>
          </a:solidFill>
          <a:ln/>
        </p:spPr>
      </p:sp>
      <p:sp>
        <p:nvSpPr>
          <p:cNvPr id="13" name="Text 11"/>
          <p:cNvSpPr/>
          <p:nvPr/>
        </p:nvSpPr>
        <p:spPr>
          <a:xfrm>
            <a:off x="673150" y="3390602"/>
            <a:ext cx="203485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Uso 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3150" y="3700314"/>
            <a:ext cx="36744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Interfaz cómoda y de fácil acceso.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46786" y="3241030"/>
            <a:ext cx="3973637" cy="1097161"/>
          </a:xfrm>
          <a:prstGeom prst="roundRect">
            <a:avLst>
              <a:gd name="adj" fmla="val 2045"/>
            </a:avLst>
          </a:prstGeom>
          <a:solidFill>
            <a:srgbClr val="2B2952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358" y="3390602"/>
            <a:ext cx="263277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Despliegue en un comando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96358" y="3700314"/>
            <a:ext cx="3674492" cy="48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arranca todo el sistema en cualquier máquina.</a:t>
            </a:r>
            <a:endParaRPr lang="en-US" sz="115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EE373005-388D-43E0-AA4E-DF61371E8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161" y="4789135"/>
            <a:ext cx="1295839" cy="3543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32031A2-B1D8-46A8-9EEF-DD718FC85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161" y="4789135"/>
            <a:ext cx="1295839" cy="35436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40D1181-F7E1-48B3-8BD3-7B5F27B2BF1B}"/>
              </a:ext>
            </a:extLst>
          </p:cNvPr>
          <p:cNvSpPr/>
          <p:nvPr/>
        </p:nvSpPr>
        <p:spPr>
          <a:xfrm>
            <a:off x="303667" y="513493"/>
            <a:ext cx="464790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Propuestas de mejora</a:t>
            </a:r>
            <a:endParaRPr lang="en-US" sz="2200" dirty="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ECF84BFB-6886-4E09-B85A-F40067008236}"/>
              </a:ext>
            </a:extLst>
          </p:cNvPr>
          <p:cNvSpPr/>
          <p:nvPr/>
        </p:nvSpPr>
        <p:spPr>
          <a:xfrm>
            <a:off x="240057" y="1544464"/>
            <a:ext cx="2757505" cy="3130630"/>
          </a:xfrm>
          <a:prstGeom prst="roundRect">
            <a:avLst>
              <a:gd name="adj" fmla="val 1451"/>
            </a:avLst>
          </a:prstGeom>
          <a:solidFill>
            <a:srgbClr val="2B2952"/>
          </a:solidFill>
          <a:ln/>
        </p:spPr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F50E2B30-C6E5-4FC2-94BD-8821A89BDD8C}"/>
              </a:ext>
            </a:extLst>
          </p:cNvPr>
          <p:cNvSpPr/>
          <p:nvPr/>
        </p:nvSpPr>
        <p:spPr>
          <a:xfrm>
            <a:off x="3178266" y="1544464"/>
            <a:ext cx="2702581" cy="3130630"/>
          </a:xfrm>
          <a:prstGeom prst="roundRect">
            <a:avLst>
              <a:gd name="adj" fmla="val 1451"/>
            </a:avLst>
          </a:prstGeom>
          <a:solidFill>
            <a:srgbClr val="2B2952"/>
          </a:solidFill>
          <a:ln/>
        </p:spPr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4B71301A-2CEB-4310-91DE-E4761BC70EC2}"/>
              </a:ext>
            </a:extLst>
          </p:cNvPr>
          <p:cNvSpPr/>
          <p:nvPr/>
        </p:nvSpPr>
        <p:spPr>
          <a:xfrm>
            <a:off x="6061551" y="1544464"/>
            <a:ext cx="2778782" cy="3130630"/>
          </a:xfrm>
          <a:prstGeom prst="roundRect">
            <a:avLst>
              <a:gd name="adj" fmla="val 1451"/>
            </a:avLst>
          </a:prstGeom>
          <a:solidFill>
            <a:srgbClr val="2B2952"/>
          </a:solidFill>
          <a:ln/>
        </p:spPr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AD10FBD1-5439-4ACC-8CC7-321865289534}"/>
              </a:ext>
            </a:extLst>
          </p:cNvPr>
          <p:cNvSpPr/>
          <p:nvPr/>
        </p:nvSpPr>
        <p:spPr>
          <a:xfrm>
            <a:off x="379866" y="1589258"/>
            <a:ext cx="2605105" cy="29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Respecto al modelo</a:t>
            </a:r>
            <a:endParaRPr lang="en-US" sz="14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E9003C37-0C12-4664-9641-7448C93885E9}"/>
              </a:ext>
            </a:extLst>
          </p:cNvPr>
          <p:cNvSpPr/>
          <p:nvPr/>
        </p:nvSpPr>
        <p:spPr>
          <a:xfrm>
            <a:off x="345253" y="2048378"/>
            <a:ext cx="2547111" cy="905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Resnet50 con aumento de datos ya de por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si funciona de manera más eficiente, pero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quizás se puedan explorar otras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arquitecturasque puedan darnos algún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tipo de mejora</a:t>
            </a:r>
            <a:endParaRPr lang="en-US" sz="110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66D1C77D-8B6C-4144-AFF3-A64E7C1CCD80}"/>
              </a:ext>
            </a:extLst>
          </p:cNvPr>
          <p:cNvSpPr/>
          <p:nvPr/>
        </p:nvSpPr>
        <p:spPr>
          <a:xfrm>
            <a:off x="303667" y="3005039"/>
            <a:ext cx="2547111" cy="905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El dataset tiene sesgo hacia adultos,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añadir más imágenes de menores de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distintas etnias y condiciones de luz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mejoraría la generalización</a:t>
            </a:r>
            <a:endParaRPr lang="en-US" sz="1100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52C45AF7-A4CA-4177-8F95-63FDCAFB7012}"/>
              </a:ext>
            </a:extLst>
          </p:cNvPr>
          <p:cNvSpPr/>
          <p:nvPr/>
        </p:nvSpPr>
        <p:spPr>
          <a:xfrm>
            <a:off x="3269447" y="1589257"/>
            <a:ext cx="2605105" cy="29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Respecto al sistema</a:t>
            </a:r>
            <a:endParaRPr lang="en-US" sz="14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9783C1DD-FB00-4786-BA1B-7833730289FE}"/>
              </a:ext>
            </a:extLst>
          </p:cNvPr>
          <p:cNvSpPr/>
          <p:nvPr/>
        </p:nvSpPr>
        <p:spPr>
          <a:xfrm>
            <a:off x="3269447" y="2048378"/>
            <a:ext cx="2547111" cy="905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Tener la posibilidad de poder escoger que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modelo usar para detección de edad.</a:t>
            </a: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02625849-03C0-46F5-BDA8-3F2C17FC97A2}"/>
              </a:ext>
            </a:extLst>
          </p:cNvPr>
          <p:cNvSpPr/>
          <p:nvPr/>
        </p:nvSpPr>
        <p:spPr>
          <a:xfrm>
            <a:off x="6159029" y="2057289"/>
            <a:ext cx="2547111" cy="905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Controlar quien puede subir y consultar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imágenes.</a:t>
            </a: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581BE625-4739-4DA5-B0D8-EF1207592243}"/>
              </a:ext>
            </a:extLst>
          </p:cNvPr>
          <p:cNvSpPr/>
          <p:nvPr/>
        </p:nvSpPr>
        <p:spPr>
          <a:xfrm>
            <a:off x="6159029" y="1589257"/>
            <a:ext cx="2605105" cy="29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Respecto al producto</a:t>
            </a:r>
            <a:endParaRPr lang="en-US" sz="140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6D33C54B-D95C-455E-BDDF-364E87617F15}"/>
              </a:ext>
            </a:extLst>
          </p:cNvPr>
          <p:cNvSpPr/>
          <p:nvPr/>
        </p:nvSpPr>
        <p:spPr>
          <a:xfrm>
            <a:off x="3269447" y="2657032"/>
            <a:ext cx="2547111" cy="905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Si la base de datos o el almacenamiento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falla, el sistema reintenta de inmediato,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un reintento con espera progresiva sería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más robusto ante cortes temporales.</a:t>
            </a:r>
          </a:p>
        </p:txBody>
      </p:sp>
    </p:spTree>
    <p:extLst>
      <p:ext uri="{BB962C8B-B14F-4D97-AF65-F5344CB8AC3E}">
        <p14:creationId xmlns:p14="http://schemas.microsoft.com/office/powerpoint/2010/main" val="3396309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1016</Words>
  <Application>Microsoft Office PowerPoint</Application>
  <PresentationFormat>Presentación en pantalla (16:9)</PresentationFormat>
  <Paragraphs>122</Paragraphs>
  <Slides>12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Consolas</vt:lpstr>
      <vt:lpstr>Syne Bold</vt:lpstr>
      <vt:lpstr>Calibri</vt:lpstr>
      <vt:lpstr>Arimo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Alejandro Jiménez Cabrera</dc:creator>
  <cp:lastModifiedBy>alejandrojimenez4286@gmail.com</cp:lastModifiedBy>
  <cp:revision>20</cp:revision>
  <dcterms:created xsi:type="dcterms:W3CDTF">2026-05-06T11:42:26Z</dcterms:created>
  <dcterms:modified xsi:type="dcterms:W3CDTF">2026-05-07T14:30:04Z</dcterms:modified>
</cp:coreProperties>
</file>